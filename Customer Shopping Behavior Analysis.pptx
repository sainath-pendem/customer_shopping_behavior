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6.png"/><Relationship Id="rId8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6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70970"/>
            <a:ext cx="1409700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75" y="4670970"/>
            <a:ext cx="1466850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4670970"/>
            <a:ext cx="1914525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4670970"/>
            <a:ext cx="1828800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343650"/>
            <a:ext cx="11049000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6467475"/>
            <a:ext cx="1514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Sainath Pendem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150" y="6467475"/>
            <a:ext cx="3181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Repo: Sainath-Pendem/Customer_Shopping_Behavior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853654"/>
            <a:ext cx="8572500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2282279"/>
            <a:ext cx="900112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Customer Shopping Behavior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651795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An end-to-end data analytics project leveraging consumer shopping metrics to optimize marketing strategies, enhance customer engagement, and boost retention.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770983"/>
            <a:ext cx="11430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5050" y="4770983"/>
            <a:ext cx="11430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4775" y="4770983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2175" y="4770983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43650"/>
            <a:ext cx="11049000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67475"/>
            <a:ext cx="1562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Slide 2 | 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15525" y="6467475"/>
            <a:ext cx="1704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Customer Shopping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53592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Key Analytical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2915542"/>
            <a:ext cx="4933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Identify Consumer Trends: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Uncover high-value product categories and demographic purchasing behaviors.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610867"/>
            <a:ext cx="4933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Improve Engagement: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Evaluate non-subscriber retention risks and subscription drivers.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4306192"/>
            <a:ext cx="4933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Optimize Marketing Spend: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Align promotional efforts with actual customer review ratings and revenue generation.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3561308"/>
            <a:ext cx="5086350" cy="43249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29830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25155"/>
            <a:ext cx="2381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20480"/>
            <a:ext cx="19050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Business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43650"/>
            <a:ext cx="1104900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467475"/>
            <a:ext cx="15335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Slide 3 | Data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7200" y="6467475"/>
            <a:ext cx="3543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Inter Medium"/>
              </a:rPr>
              <a:t>github.com/Sainath-Pendem/Customer_Shopping_Behavior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3858517"/>
            <a:ext cx="10287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605" y="2996505"/>
            <a:ext cx="552450" cy="552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0733" y="3739455"/>
            <a:ext cx="25521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1. Data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34730"/>
            <a:ext cx="243066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Python script handles null values, data transformation, and exploratory data analysis (EDA).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285" y="2996505"/>
            <a:ext cx="552450" cy="552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413" y="3739455"/>
            <a:ext cx="25521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2. SQL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4180" y="4034730"/>
            <a:ext cx="243066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Structured database tables and executed aggregation queries for core metric calculations.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5966" y="2996505"/>
            <a:ext cx="552450" cy="552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56094" y="3739455"/>
            <a:ext cx="25521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3. 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6860" y="4034730"/>
            <a:ext cx="243066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Designed an interactive dashboard with dynamic DAX measures for executive reporting.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8646" y="2996505"/>
            <a:ext cx="552450" cy="552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28774" y="3739455"/>
            <a:ext cx="25521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4. GitHub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541" y="4034730"/>
            <a:ext cx="243066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Published documentation, data schema, SQL queries, and PBIX files for version control.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342" y="3167955"/>
            <a:ext cx="1809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9023" y="3167955"/>
            <a:ext cx="180975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3128" y="3167955"/>
            <a:ext cx="2381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4859" y="3167955"/>
            <a:ext cx="200025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Data Pipeline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72555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39875"/>
            <a:ext cx="2590800" cy="8876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2339875"/>
            <a:ext cx="2590800" cy="8876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79886"/>
            <a:ext cx="2590800" cy="88761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3379886"/>
            <a:ext cx="2590800" cy="88761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343650"/>
            <a:ext cx="11049000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6467475"/>
            <a:ext cx="1657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Slide 4 | Power BI 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9850" y="6467475"/>
            <a:ext cx="1390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Live Dashboard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457997"/>
            <a:ext cx="5334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The Power BI dashboard provides a centralized view of customer demographics, subscription dynamics, and multi-category performance metrics.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2333476"/>
            <a:ext cx="5086350" cy="28880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525" y="2520850"/>
            <a:ext cx="2190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2563EB"/>
                </a:solidFill>
                <a:latin typeface="Plus Jakarta Sans ExtraBold"/>
              </a:rPr>
              <a:t>3.9K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894111"/>
            <a:ext cx="2190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TOTAL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4725" y="2520850"/>
            <a:ext cx="2190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2563EB"/>
                </a:solidFill>
                <a:latin typeface="Plus Jakarta Sans ExtraBold"/>
              </a:rPr>
              <a:t>$59.76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725" y="2894111"/>
            <a:ext cx="2190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AVG PURCHASE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560861"/>
            <a:ext cx="2190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2563EB"/>
                </a:solidFill>
                <a:latin typeface="Plus Jakarta Sans ExtraBold"/>
              </a:rPr>
              <a:t>3.75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934122"/>
            <a:ext cx="2190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AVG REVIEW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4725" y="3560861"/>
            <a:ext cx="2190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2400" i="0" u="none">
                <a:solidFill>
                  <a:srgbClr val="2563EB"/>
                </a:solidFill>
                <a:latin typeface="Plus Jakarta Sans ExtraBold"/>
              </a:rPr>
              <a:t>26.9%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725" y="3934122"/>
            <a:ext cx="21907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 SemiBold"/>
              </a:rPr>
              <a:t>SUBSCRIBER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Executive Dashboard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3086"/>
            <a:ext cx="3530649" cy="2928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13086"/>
            <a:ext cx="3530649" cy="29289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13086"/>
            <a:ext cx="3530649" cy="2928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6343650"/>
            <a:ext cx="1104900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67475"/>
            <a:ext cx="1619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Slide 5 | Business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0" y="6467475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Key Findings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589311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3275111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73% Non-Subscribers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637061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Over 2,850 customers are currently non-subscribers. Converting a fraction of these repeat shoppers into subscribers represents the biggest opportunity for predictable revenue.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6974" y="2589311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6974" y="3275111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76% Revenue Dominance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6974" y="3637061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Clothing ($104K) and Accessories ($74K) generate over $178K in total sales, serving as the core acquisition channels across all shopper segments.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224" y="2589311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6224" y="3275111"/>
            <a:ext cx="312710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lus Jakarta Sans"/>
              </a:rPr>
              <a:t>Demographic Parity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224" y="3637061"/>
            <a:ext cx="2978199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Purchasing power is remarkably balanced across Young Adults, Adults, Middle-aged, and Seniors. Marketing strategies should focus on product value over age segregation.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2732186"/>
            <a:ext cx="26670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1274" y="2732186"/>
            <a:ext cx="2667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0524" y="2732186"/>
            <a:ext cx="26670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Data Insights &amp;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10980"/>
            <a:ext cx="11049000" cy="62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73360"/>
            <a:ext cx="11049000" cy="52083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43650"/>
            <a:ext cx="11049000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67475"/>
            <a:ext cx="2028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Slide 6 | Performance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1325" y="6467475"/>
            <a:ext cx="1019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Product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Revenue &amp; Engagement by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43650"/>
            <a:ext cx="1104900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6467475"/>
            <a:ext cx="1590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Slide 7 |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8925" y="6467475"/>
            <a:ext cx="11715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End of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1675" y="2386905"/>
            <a:ext cx="864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Subscription Upsell Campaigns: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Target the 2.85K non-subscribers with personalized post-purchase incentives (e.g., "Save 10% by starting a free trial").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71675" y="3082230"/>
            <a:ext cx="864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Cross-Category Bundling: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Pair top-selling Clothing items with complementary Accessories to drive the current $59.76 Average Purchase Amount higher.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1675" y="3777555"/>
            <a:ext cx="864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Unified Ad Messaging: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Maintain inclusive, feature-led advertising rather than strict demographic splits, leveraging the equal purchasing power across age tiers.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1675" y="4472880"/>
            <a:ext cx="8648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 </a:t>
            </a:r>
            <a:r>
              <a:rPr b="1" sz="1275" i="0" u="none">
                <a:solidFill>
                  <a:srgbClr val="475569"/>
                </a:solidFill>
                <a:latin typeface="Inter"/>
              </a:rPr>
              <a:t>Project Access: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Full source code, SQL queries, and Power BI report file are available at </a:t>
            </a:r>
            <a:r>
              <a:rPr b="0" sz="1275" i="0" u="none">
                <a:solidFill>
                  <a:srgbClr val="2563EB"/>
                </a:solidFill>
                <a:latin typeface="Inter"/>
              </a:rPr>
              <a:t>github.com/Sainath-Pendem/Customer_Shopping_Behavior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2401192"/>
            <a:ext cx="2190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3096517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379184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1625" y="4487167"/>
            <a:ext cx="1809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Strategic Action Plan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